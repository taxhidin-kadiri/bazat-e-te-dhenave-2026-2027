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1281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Hyrje: Prezantoni veten dhe temën. Theksoni se sot flasim për 'motorin' e padukshëm pas çdo aplikacioni që përdorin nxënësit. Qëllimi: kalimi nga koncepti abstrakt tek shembujt konkretë.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Lexoni shkurt objektivat. Rikujtoni përkufizimin e bazës së të dhënave nga ora e kaluar (hyrja) pa u zgjatur — vetëm një fjali lidhëse.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Bëni pyetjen me zë të lartë dhe prisni përgjigje spontane nga klasa përpara se të tregoni kartat. Qëllimi: të kuptojnë se baza e të dhënave nuk është koncept abstrakt akademik, por diçka që përdorin çdo minutë.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Tregoni skemën nga e majta në të djathtë si një udhëtim në kohë. Theksoni se çdo hap i ri lindi si zgjidhje për problemin e hapit të mëparshëm (letra ishte e ngadaltë</a:t>
            </a:r>
            <a:r>
              <a:rPr lang="en-US"/>
              <a:t>, fajllët </a:t>
            </a:r>
            <a:r>
              <a:rPr lang="en-US" dirty="0"/>
              <a:t>u përsëriteshin, etj).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Jepni shembull konkret: një mësues që mban notat në Excel dhe </a:t>
            </a:r>
            <a:r>
              <a:rPr lang="en-US"/>
              <a:t>kopjon fajllin </a:t>
            </a:r>
            <a:r>
              <a:rPr lang="en-US" dirty="0"/>
              <a:t>për çdo paralele — çfarë shkon keq kur duhet bashkuar.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Kjo është teknologjia që do përdorim praktikisht gjatë gjithë lëndës (Access/SQL). Theksoni fjalën 'relacion' — tabelat 'flasin' me njëra-tjetrën.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 u zgjatni shumë — mjafton të kuptojnë se ekziston edhe kjo rrugë, e përdorur nga gjigantë si Facebook/Google për volum shumë të madh </a:t>
            </a:r>
            <a:r>
              <a:rPr lang="en-US"/>
              <a:t>të dhënave.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Lidhni me përvojën e tyre: Google Drive, aplikacionet e telefonit që punojnë pa qenë 'instaluar' një server në shtëpi.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Kaloni rresht pas rreshti. Pyetni klasën: 'Cilën do zgjidhnit për regjistrin e nxënësve të shkollës?' para se të vazhdoni te pyetja interaktive.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Ndani klasën në grupe të vogla 2-3 minuta, pastaj votim me dorë për secilën përgjigje. Përgjigja e pritur: C (NoSQL + Cloud), por pranoni argumentet për B nëse dikush e mbron mirë — nuk ka një përgjigje absolute, qëllimi është arsyetimi.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Kjo është pika kthese e orës: kaloni nga 'çfarë janë teknologjitë' te 'pse na duhen fare'. Lexoni kolonën e majtë si një histori problemi real (p.sh. dy sekretare regjistrojnë të njëjtin nxënës dy herë ndryshe).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Shembull: adresa e nxënësit ndryshon njëherë në sistem, jo në 5 vende të ndryshme.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Lidhni me diçka të prekshme: notat e nxënësve — vetëm mësimdhënësi dhe drejtoria duhet t'i shohin, jo çdokush.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Krahasoni: kërkim manual në 500 fletore kundrejt një pyetësori SQL që përgjigjet në më pak se një sekondë.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Përmendni një rast real: nëse serveri i shkollës digjitet, të dhënat rikuperohen nga kopja rezervë — pa këtë do humbisnim gjithçka.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Kërkojuni nxënësve të japin vetë shembuj shtesë nga jeta e tyre përpara se të tregoni slajdin — më pas krahasoni me listën.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Përsëriteni çdo pikë me një fjalë çelës. Pyesni 1-2 nxënës të përmbledhin me fjalët e tyre për të kontrolluar të kuptuarit.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Lini pyetjen si detyrë refleksioni për herën tjetër — jo detyrë me shkrim, thjesht për diskutim në fillim të orës së ardhshme. Kaloni te puna individuale në kabinet.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26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1720"/>
              </a:gs>
              <a:gs pos="55000">
                <a:srgbClr val="16283D"/>
              </a:gs>
              <a:gs pos="100000">
                <a:srgbClr val="1B3A5C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15975" y="815975"/>
            <a:ext cx="3973909" cy="397470"/>
          </a:xfrm>
          <a:prstGeom prst="roundRect">
            <a:avLst>
              <a:gd name="adj" fmla="val 50000"/>
            </a:avLst>
          </a:prstGeom>
          <a:solidFill>
            <a:srgbClr val="2F6FED">
              <a:alpha val="16000"/>
            </a:srgbClr>
          </a:solidFill>
          <a:ln w="6350">
            <a:solidFill>
              <a:srgbClr val="2F6FED"/>
            </a:solidFill>
            <a:prstDash val="solid"/>
          </a:ln>
        </p:spPr>
      </p:sp>
      <p:pic>
        <p:nvPicPr>
          <p:cNvPr id="4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950" y="925810"/>
            <a:ext cx="177800" cy="17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6350" y="908050"/>
            <a:ext cx="34325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9CC0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2425799"/>
            <a:ext cx="10883392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AFBF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Teknologjitë dhe Përparësitë e Bazave të të Dhënave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12800" y="4000599"/>
            <a:ext cx="8829675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C3D2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</a:t>
            </a:r>
            <a:r>
              <a:rPr lang="en-US" sz="1700" dirty="0" err="1">
                <a:solidFill>
                  <a:srgbClr val="C3D2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evoluan</a:t>
            </a:r>
            <a:r>
              <a:rPr lang="en-US" sz="1700" dirty="0">
                <a:solidFill>
                  <a:srgbClr val="C3D2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mjetet për ruajtjen e të dhënave — dhe pse çdo sistem modern, nga banka te rrjeti social, mbështetet mbi to.</a:t>
            </a:r>
            <a:endParaRPr lang="en-US" sz="1700" dirty="0"/>
          </a:p>
        </p:txBody>
      </p:sp>
      <p:pic>
        <p:nvPicPr>
          <p:cNvPr id="8" name="Image 1" descr="GraduationCap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5840710"/>
            <a:ext cx="177800" cy="17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66800" y="5814120"/>
            <a:ext cx="22152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Klasa XII · Profili Informatikë</a:t>
            </a:r>
            <a:endParaRPr lang="en-US" sz="1300" dirty="0"/>
          </a:p>
        </p:txBody>
      </p:sp>
      <p:pic>
        <p:nvPicPr>
          <p:cNvPr id="10" name="Image 2" descr="Clo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522365" y="5840710"/>
            <a:ext cx="177800" cy="1778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76365" y="5814120"/>
            <a:ext cx="80704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CE6F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 minuta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OBJEKTIVAT E ORËS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Sot mësojmë të mendojmë si projektues baze </a:t>
            </a:r>
            <a:r>
              <a:rPr lang="en-US" sz="30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të</a:t>
            </a:r>
            <a:r>
              <a:rPr lang="en-US" sz="30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30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dhënave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2105620"/>
            <a:ext cx="981075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Rikujtim: një </a:t>
            </a:r>
            <a:r>
              <a:rPr lang="en-US" sz="14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bazë </a:t>
            </a:r>
            <a:r>
              <a:rPr lang="en-US" sz="1400" b="1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të</a:t>
            </a:r>
            <a:r>
              <a:rPr lang="en-US" sz="14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 b="1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dhënave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është </a:t>
            </a:r>
            <a:r>
              <a:rPr lang="en-US" sz="14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një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koleksion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 organizuar </a:t>
            </a:r>
            <a:r>
              <a:rPr lang="en-US" sz="14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të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dhënave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të lidhura mes tyre, i menaxhuar nga një sistem softuerik i posaçëm.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75" y="2962077"/>
            <a:ext cx="3380284" cy="2325191"/>
          </a:xfrm>
          <a:prstGeom prst="roundRect">
            <a:avLst>
              <a:gd name="adj" fmla="val 6418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blurRad="152400" dist="50800" dir="5400000" algn="bl" rotWithShape="0">
              <a:srgbClr val="141E2D">
                <a:alpha val="6000"/>
              </a:srgbClr>
            </a:outerShdw>
          </a:effectLst>
        </p:spPr>
      </p:sp>
      <p:pic>
        <p:nvPicPr>
          <p:cNvPr id="6" name="Image 0" descr="Search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8550" y="3244652"/>
            <a:ext cx="304800" cy="30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8550" y="3676452"/>
            <a:ext cx="28995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Të dallojmë teknologjitë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8550" y="4057452"/>
            <a:ext cx="2899588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Çfarë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teknologji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përdoren sot për krijimin e bazave të të dhënave dhe si ndryshojnë ato mes vete.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05809" y="2962077"/>
            <a:ext cx="3380383" cy="2325191"/>
          </a:xfrm>
          <a:prstGeom prst="roundRect">
            <a:avLst>
              <a:gd name="adj" fmla="val 6418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blurRad="152400" dist="50800" dir="5400000" algn="bl" rotWithShape="0">
              <a:srgbClr val="141E2D">
                <a:alpha val="6000"/>
              </a:srgbClr>
            </a:outerShdw>
          </a:effectLst>
        </p:spPr>
      </p:sp>
      <p:pic>
        <p:nvPicPr>
          <p:cNvPr id="10" name="Image 1" descr="Char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88384" y="3244652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88384" y="3676452"/>
            <a:ext cx="28996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Të argumentojmë përparësitë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88384" y="4311452"/>
            <a:ext cx="2899690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Pse një bazë </a:t>
            </a:r>
            <a:r>
              <a:rPr lang="en-US" sz="13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të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dhënave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zëvendëson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sq-AL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fajllat</a:t>
            </a: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 shpërndarë — dhe çfarë fitojmë me këtë kalim.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995741" y="2962077"/>
            <a:ext cx="3380284" cy="2325191"/>
          </a:xfrm>
          <a:prstGeom prst="roundRect">
            <a:avLst>
              <a:gd name="adj" fmla="val 6418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  <a:effectLst>
            <a:outerShdw blurRad="152400" dist="50800" dir="5400000" algn="bl" rotWithShape="0">
              <a:srgbClr val="141E2D">
                <a:alpha val="6000"/>
              </a:srgbClr>
            </a:outerShdw>
          </a:effectLst>
        </p:spPr>
      </p:sp>
      <p:pic>
        <p:nvPicPr>
          <p:cNvPr id="14" name="Image 2" descr="Lightbulb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78316" y="3244652"/>
            <a:ext cx="304800" cy="3048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78316" y="3676452"/>
            <a:ext cx="289958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Të lidhim me praktikën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278316" y="4057452"/>
            <a:ext cx="2899588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 i takojmë bazat e të dhënave çdo ditë, dhe si do t'i ndërtojmë vetë gjatë kësaj lënde.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5A62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E DINI?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78520"/>
            <a:ext cx="981075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4F7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Sot, para se të hyni në klasë, ndoshta keni "biseduar" me dhjetëra baza </a:t>
            </a:r>
            <a:r>
              <a:rPr lang="en-US" sz="3000" b="1" dirty="0" err="1">
                <a:solidFill>
                  <a:srgbClr val="F4F7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të</a:t>
            </a:r>
            <a:r>
              <a:rPr lang="en-US" sz="3000" b="1" dirty="0">
                <a:solidFill>
                  <a:srgbClr val="F4F7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3000" b="1" dirty="0" err="1">
                <a:solidFill>
                  <a:srgbClr val="F4F7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dhënave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5004594"/>
            <a:ext cx="2520950" cy="834231"/>
          </a:xfrm>
          <a:prstGeom prst="roundRect">
            <a:avLst>
              <a:gd name="adj" fmla="val 13321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5" name="Image 0" descr="Chat"/>
          <p:cNvPicPr>
            <a:picLocks noChangeAspect="1"/>
          </p:cNvPicPr>
          <p:nvPr/>
        </p:nvPicPr>
        <p:blipFill>
          <a:blip r:embed="rId3"/>
          <a:srcRect t="-468" b="-468"/>
          <a:stretch/>
        </p:blipFill>
        <p:spPr>
          <a:xfrm>
            <a:off x="1022350" y="5307409"/>
            <a:ext cx="201315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265" y="5172869"/>
            <a:ext cx="185944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7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Një mesazh në rrjet social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495675" y="5004594"/>
            <a:ext cx="2520950" cy="834231"/>
          </a:xfrm>
          <a:prstGeom prst="roundRect">
            <a:avLst>
              <a:gd name="adj" fmla="val 13321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8" name="Image 1" descr="Glob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02050" y="5307409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32250" y="5297289"/>
            <a:ext cx="182336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7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Një kërkim në internet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175375" y="5004594"/>
            <a:ext cx="2520950" cy="834231"/>
          </a:xfrm>
          <a:prstGeom prst="roundRect">
            <a:avLst>
              <a:gd name="adj" fmla="val 13321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11" name="Image 2" descr="Trus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81750" y="5307409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711950" y="5172869"/>
            <a:ext cx="183134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7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Një pagesë me kartelë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8855075" y="5004594"/>
            <a:ext cx="2520950" cy="834231"/>
          </a:xfrm>
          <a:prstGeom prst="roundRect">
            <a:avLst>
              <a:gd name="adj" fmla="val 13321"/>
            </a:avLst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6000"/>
              </a:srgbClr>
            </a:solidFill>
            <a:prstDash val="solid"/>
          </a:ln>
        </p:spPr>
      </p:sp>
      <p:pic>
        <p:nvPicPr>
          <p:cNvPr id="14" name="Image 3" descr="Play"/>
          <p:cNvPicPr>
            <a:picLocks noChangeAspect="1"/>
          </p:cNvPicPr>
          <p:nvPr/>
        </p:nvPicPr>
        <p:blipFill>
          <a:blip r:embed="rId6"/>
          <a:srcRect l="-147" r="-147"/>
          <a:stretch/>
        </p:blipFill>
        <p:spPr>
          <a:xfrm>
            <a:off x="9061450" y="5307409"/>
            <a:ext cx="203795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66845" y="5172869"/>
            <a:ext cx="1856889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7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Një këngë e luajtur online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/ 18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NGA LETRA TE REJA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Evolucioni i teknologjive për ruajtjen e të dhënave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19325" y="1981795"/>
            <a:ext cx="641350" cy="641350"/>
          </a:xfrm>
          <a:prstGeom prst="roundRect">
            <a:avLst>
              <a:gd name="adj" fmla="val 50000"/>
            </a:avLst>
          </a:prstGeom>
          <a:solidFill>
            <a:srgbClr val="E9F0FE"/>
          </a:solidFill>
          <a:ln w="19050">
            <a:solidFill>
              <a:srgbClr val="2F6FED"/>
            </a:solidFill>
            <a:prstDash val="solid"/>
          </a:ln>
        </p:spPr>
      </p:sp>
      <p:pic>
        <p:nvPicPr>
          <p:cNvPr id="5" name="Image 0" descr="Boo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00300" y="2162770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16100" y="2734270"/>
            <a:ext cx="1447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Kartela letre dhe arkiva</a:t>
            </a:r>
            <a:endParaRPr lang="en-US" sz="1200" dirty="0"/>
          </a:p>
        </p:txBody>
      </p:sp>
      <p:pic>
        <p:nvPicPr>
          <p:cNvPr id="7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63900" y="2232620"/>
            <a:ext cx="330200" cy="1397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997325" y="1981795"/>
            <a:ext cx="641350" cy="641350"/>
          </a:xfrm>
          <a:prstGeom prst="roundRect">
            <a:avLst>
              <a:gd name="adj" fmla="val 50000"/>
            </a:avLst>
          </a:prstGeom>
          <a:solidFill>
            <a:srgbClr val="E9F0FE"/>
          </a:solidFill>
          <a:ln w="19050">
            <a:solidFill>
              <a:srgbClr val="2F6FED"/>
            </a:solidFill>
            <a:prstDash val="solid"/>
          </a:ln>
        </p:spPr>
      </p:sp>
      <p:pic>
        <p:nvPicPr>
          <p:cNvPr id="9" name="Image 2" descr="Code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178300" y="2162770"/>
            <a:ext cx="279400" cy="279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 bwMode="hidden">
          <a:xfrm>
            <a:off x="3528204" y="2734270"/>
            <a:ext cx="169940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sq-AL" sz="12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Fajlla</a:t>
            </a:r>
            <a:r>
              <a:rPr lang="en-US" sz="12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të thjeshtë (flat files)</a:t>
            </a:r>
            <a:endParaRPr lang="en-US" sz="1200" dirty="0"/>
          </a:p>
        </p:txBody>
      </p:sp>
      <p:pic>
        <p:nvPicPr>
          <p:cNvPr id="11" name="Image 3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41900" y="2232620"/>
            <a:ext cx="330200" cy="13970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775325" y="1981795"/>
            <a:ext cx="641350" cy="641350"/>
          </a:xfrm>
          <a:prstGeom prst="roundRect">
            <a:avLst>
              <a:gd name="adj" fmla="val 50000"/>
            </a:avLst>
          </a:prstGeom>
          <a:solidFill>
            <a:srgbClr val="E9F0FE"/>
          </a:solidFill>
          <a:ln w="19050">
            <a:solidFill>
              <a:srgbClr val="2F6FED"/>
            </a:solidFill>
            <a:prstDash val="solid"/>
          </a:ln>
        </p:spPr>
      </p:sp>
      <p:pic>
        <p:nvPicPr>
          <p:cNvPr id="13" name="Image 4" descr="Link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56300" y="2162770"/>
            <a:ext cx="279400" cy="2794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372100" y="2734270"/>
            <a:ext cx="1447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 hierarkike dhe rrjetë</a:t>
            </a:r>
            <a:endParaRPr lang="en-US" sz="1200" dirty="0"/>
          </a:p>
        </p:txBody>
      </p:sp>
      <p:pic>
        <p:nvPicPr>
          <p:cNvPr id="15" name="Image 5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19900" y="2232620"/>
            <a:ext cx="330200" cy="13970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7553325" y="1981795"/>
            <a:ext cx="641350" cy="641350"/>
          </a:xfrm>
          <a:prstGeom prst="roundRect">
            <a:avLst>
              <a:gd name="adj" fmla="val 50000"/>
            </a:avLst>
          </a:prstGeom>
          <a:solidFill>
            <a:srgbClr val="E9F0FE"/>
          </a:solidFill>
          <a:ln w="19050">
            <a:solidFill>
              <a:srgbClr val="2F6FED"/>
            </a:solidFill>
            <a:prstDash val="solid"/>
          </a:ln>
        </p:spPr>
      </p:sp>
      <p:pic>
        <p:nvPicPr>
          <p:cNvPr id="17" name="Image 6" descr="Database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34300" y="2162770"/>
            <a:ext cx="279400" cy="2794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150100" y="2734270"/>
            <a:ext cx="1447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 relacionale (RDBMS)</a:t>
            </a:r>
            <a:endParaRPr lang="en-US" sz="1200" dirty="0"/>
          </a:p>
        </p:txBody>
      </p:sp>
      <p:pic>
        <p:nvPicPr>
          <p:cNvPr id="19" name="Image 7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97900" y="2232620"/>
            <a:ext cx="330200" cy="13970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9331325" y="1981795"/>
            <a:ext cx="641350" cy="641350"/>
          </a:xfrm>
          <a:prstGeom prst="roundRect">
            <a:avLst>
              <a:gd name="adj" fmla="val 50000"/>
            </a:avLst>
          </a:prstGeom>
          <a:solidFill>
            <a:srgbClr val="E9F0FE"/>
          </a:solidFill>
          <a:ln w="19050">
            <a:solidFill>
              <a:srgbClr val="2F6FED"/>
            </a:solidFill>
            <a:prstDash val="solid"/>
          </a:ln>
        </p:spPr>
      </p:sp>
      <p:pic>
        <p:nvPicPr>
          <p:cNvPr id="21" name="Image 8" descr="Cloud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512300" y="2162770"/>
            <a:ext cx="279400" cy="2794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8928100" y="2734270"/>
            <a:ext cx="1447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dhe NoSQL — sot</a:t>
            </a:r>
            <a:endParaRPr lang="en-US" sz="1200" dirty="0"/>
          </a:p>
        </p:txBody>
      </p:sp>
      <p:sp>
        <p:nvSpPr>
          <p:cNvPr id="23" name="Text 12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24" name="Text 13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/ 18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975" y="847626"/>
            <a:ext cx="603250" cy="603250"/>
          </a:xfrm>
          <a:prstGeom prst="roundRect">
            <a:avLst>
              <a:gd name="adj" fmla="val 24737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pic>
        <p:nvPicPr>
          <p:cNvPr id="3" name="Image 0" descr="Cod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5200" y="996851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812800"/>
            <a:ext cx="55962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TEKNOLOGJIA 1 NGA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076920"/>
            <a:ext cx="5596215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sq-AL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</a:t>
            </a:r>
            <a:r>
              <a:rPr lang="en-US" sz="28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ajllë</a:t>
            </a: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të thjeshtë (Flat Files)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12800" y="1790601"/>
            <a:ext cx="981075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Të dhënat ruhen </a:t>
            </a:r>
            <a:r>
              <a:rPr lang="en-US" sz="15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në</a:t>
            </a: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fajllë</a:t>
            </a: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të veçantë (tekst, Excel, CSV), pa lidhje reale mes tyre. E thjeshtë për fillim, por çdo ndryshim rrezikon të krijojë kopje </a:t>
            </a:r>
            <a:r>
              <a:rPr lang="en-US" sz="15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të</a:t>
            </a: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dhënave</a:t>
            </a: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të pasakta.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2800" y="2647851"/>
            <a:ext cx="726480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8" name="Text 5"/>
          <p:cNvSpPr/>
          <p:nvPr/>
        </p:nvSpPr>
        <p:spPr>
          <a:xfrm>
            <a:off x="977900" y="2762151"/>
            <a:ext cx="4470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.txt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666280" y="2647851"/>
            <a:ext cx="726480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10" name="Text 7"/>
          <p:cNvSpPr/>
          <p:nvPr/>
        </p:nvSpPr>
        <p:spPr>
          <a:xfrm>
            <a:off x="1831380" y="2762151"/>
            <a:ext cx="4470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.csv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519759" y="2647851"/>
            <a:ext cx="1618059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12" name="Text 9"/>
          <p:cNvSpPr/>
          <p:nvPr/>
        </p:nvSpPr>
        <p:spPr>
          <a:xfrm>
            <a:off x="2684859" y="2762151"/>
            <a:ext cx="13386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Excel (.xlsx)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 / 18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975" y="847626"/>
            <a:ext cx="603250" cy="603250"/>
          </a:xfrm>
          <a:prstGeom prst="roundRect">
            <a:avLst>
              <a:gd name="adj" fmla="val 24737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pic>
        <p:nvPicPr>
          <p:cNvPr id="3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5200" y="996851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812800"/>
            <a:ext cx="46704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TEKNOLOGJIA 2 NGA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076920"/>
            <a:ext cx="4670428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Baza relacionale (RDBMS)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12800" y="1790601"/>
            <a:ext cx="981075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Të dhënat organizohen në tabela të lidhura me njëra-tjetrën përmes çelësave. Standardi i industrisë për sisteme biznesi, shkollore dhe financiare — dhe pikënisja e kësaj lënde.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2800" y="2647851"/>
            <a:ext cx="825500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8" name="Text 5"/>
          <p:cNvSpPr/>
          <p:nvPr/>
        </p:nvSpPr>
        <p:spPr>
          <a:xfrm>
            <a:off x="977900" y="2762151"/>
            <a:ext cx="5461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MySQL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765300" y="2647851"/>
            <a:ext cx="1320800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10" name="Text 7"/>
          <p:cNvSpPr/>
          <p:nvPr/>
        </p:nvSpPr>
        <p:spPr>
          <a:xfrm>
            <a:off x="1930400" y="2762151"/>
            <a:ext cx="1041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13100" y="2647851"/>
            <a:ext cx="2311400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12" name="Text 9"/>
          <p:cNvSpPr/>
          <p:nvPr/>
        </p:nvSpPr>
        <p:spPr>
          <a:xfrm>
            <a:off x="3378200" y="2762151"/>
            <a:ext cx="204063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SQL Server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51500" y="2647851"/>
            <a:ext cx="1915220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14" name="Text 11"/>
          <p:cNvSpPr/>
          <p:nvPr/>
        </p:nvSpPr>
        <p:spPr>
          <a:xfrm>
            <a:off x="5816600" y="2762151"/>
            <a:ext cx="16358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Access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 / 18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975" y="847626"/>
            <a:ext cx="603250" cy="603250"/>
          </a:xfrm>
          <a:prstGeom prst="roundRect">
            <a:avLst>
              <a:gd name="adj" fmla="val 24737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pic>
        <p:nvPicPr>
          <p:cNvPr id="3" name="Image 0" descr="Lin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5200" y="996851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812800"/>
            <a:ext cx="50744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TEKNOLOGJIA 3 NGA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076920"/>
            <a:ext cx="5074406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Baza jo-relacionale (NoSQL)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12800" y="1790601"/>
            <a:ext cx="981075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Ruajnë të dhëna në formë dokumentesh, çift çelës-vlerë ose grafesh, jo domosdoshmërisht në tabela. Të përshtatshme për aplikacione me shpejtësi dhe fleksibilitet të lartë — rrjete sociale, aplikacione mobile.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2800" y="2647851"/>
            <a:ext cx="1023640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8" name="Text 5"/>
          <p:cNvSpPr/>
          <p:nvPr/>
        </p:nvSpPr>
        <p:spPr>
          <a:xfrm>
            <a:off x="977900" y="2762151"/>
            <a:ext cx="74424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MongoDB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963440" y="2647851"/>
            <a:ext cx="1122759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10" name="Text 7"/>
          <p:cNvSpPr/>
          <p:nvPr/>
        </p:nvSpPr>
        <p:spPr>
          <a:xfrm>
            <a:off x="2128540" y="2762151"/>
            <a:ext cx="8433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Firebase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13199" y="2647851"/>
            <a:ext cx="825500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12" name="Text 9"/>
          <p:cNvSpPr/>
          <p:nvPr/>
        </p:nvSpPr>
        <p:spPr>
          <a:xfrm>
            <a:off x="3378299" y="2762151"/>
            <a:ext cx="5461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Redis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 / 18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5975" y="847626"/>
            <a:ext cx="603250" cy="603250"/>
          </a:xfrm>
          <a:prstGeom prst="roundRect">
            <a:avLst>
              <a:gd name="adj" fmla="val 24737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pic>
        <p:nvPicPr>
          <p:cNvPr id="3" name="Image 0" descr="Clou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5200" y="996851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812800"/>
            <a:ext cx="255222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TEKNOLOGJIA 4 NGA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076920"/>
            <a:ext cx="2552226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Baza në Cloud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12800" y="1790601"/>
            <a:ext cx="981075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 të hostuara në internet, të aksesueshme nga kudo, pa nevojë për server fizik në shkollë apo kompani. Ofruesi kujdeset për sigurinë, kopjet rezervë dhe shkallëzimin automatik.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12800" y="2647851"/>
            <a:ext cx="1915220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8" name="Text 5"/>
          <p:cNvSpPr/>
          <p:nvPr/>
        </p:nvSpPr>
        <p:spPr>
          <a:xfrm>
            <a:off x="977900" y="2762151"/>
            <a:ext cx="163582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Google Cloud SQL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55020" y="2647851"/>
            <a:ext cx="1320800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10" name="Text 7"/>
          <p:cNvSpPr/>
          <p:nvPr/>
        </p:nvSpPr>
        <p:spPr>
          <a:xfrm>
            <a:off x="3020120" y="2762151"/>
            <a:ext cx="10414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Amazon RDS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02820" y="2647851"/>
            <a:ext cx="2212380" cy="459680"/>
          </a:xfrm>
          <a:prstGeom prst="roundRect">
            <a:avLst>
              <a:gd name="adj" fmla="val 19340"/>
            </a:avLst>
          </a:prstGeom>
          <a:solidFill>
            <a:srgbClr val="E9F0FE"/>
          </a:solidFill>
          <a:ln/>
        </p:spPr>
      </p:sp>
      <p:sp>
        <p:nvSpPr>
          <p:cNvPr id="12" name="Text 9"/>
          <p:cNvSpPr/>
          <p:nvPr/>
        </p:nvSpPr>
        <p:spPr>
          <a:xfrm>
            <a:off x="4467920" y="2762151"/>
            <a:ext cx="193864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Microsoft Azure SQL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 / 18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KRAHASIMI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Cila </a:t>
            </a:r>
            <a:r>
              <a:rPr lang="en-US" sz="28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teknologji</a:t>
            </a: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28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dhe</a:t>
            </a: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sq-AL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zba</a:t>
            </a: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?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063676"/>
              </p:ext>
            </p:extLst>
          </p:nvPr>
        </p:nvGraphicFramePr>
        <p:xfrm>
          <a:off x="812800" y="1790601"/>
          <a:ext cx="10566400" cy="4020640"/>
        </p:xfrm>
        <a:graphic>
          <a:graphicData uri="http://schemas.openxmlformats.org/drawingml/2006/table">
            <a:tbl>
              <a:tblPr/>
              <a:tblGrid>
                <a:gridCol w="2324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7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7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7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Teknologjia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Shembuj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Pika e fortë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Përdorim tipik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0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sq-AL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</a:t>
                      </a:r>
                      <a:r>
                        <a:rPr lang="en-US" sz="1600" dirty="0" err="1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ajllë</a:t>
                      </a: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 të thjeshtë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CSV, Excel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Thjeshtësi, pa instalim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Lista të vogla, raste personale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10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Relacionale (RDBMS)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MySQL, Access, SQL Server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Konsistencë, relacione të sakta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Shkolla, banka, ndërmarrje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10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Jo-relacionale (NoSQL)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MongoDB, Firebase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Shpejtësi, fleksibilitet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Rrjete sociale, aplikacione mobile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102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Cloud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Google Cloud SQL, AWS RDS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Qasje nga kudo, shkallëzim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Shërbime online 24/7</a:t>
                      </a:r>
                      <a:endParaRPr lang="en-US" sz="16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39700" marB="139700">
                    <a:lnL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8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 / 18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1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ghtbulb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812800"/>
            <a:ext cx="330200" cy="330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70000" y="871240"/>
            <a:ext cx="39688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B87A0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PAUZË PËR MENDIM — DISKUTIM ME KLASËN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447800"/>
            <a:ext cx="10464800" cy="1313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 ndërtoni Instagram-in e shkollës suaj. </a:t>
            </a:r>
            <a:r>
              <a:rPr lang="en-US" sz="26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Cilën</a:t>
            </a:r>
            <a:r>
              <a:rPr lang="en-US" sz="2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26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teknologji</a:t>
            </a:r>
            <a:r>
              <a:rPr lang="en-US" sz="2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do </a:t>
            </a:r>
            <a:r>
              <a:rPr lang="en-US" sz="26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të</a:t>
            </a:r>
            <a:endParaRPr lang="en-US" sz="2600" b="1" dirty="0">
              <a:solidFill>
                <a:srgbClr val="1B2430"/>
              </a:solidFill>
              <a:latin typeface="Rubik" pitchFamily="34" charset="0"/>
              <a:ea typeface="Rubik" pitchFamily="34" charset="-122"/>
              <a:cs typeface="Rubik" pitchFamily="34" charset="-120"/>
            </a:endParaRPr>
          </a:p>
          <a:p>
            <a:pPr marL="0" indent="0" algn="l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26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zgjidhnit</a:t>
            </a:r>
            <a:r>
              <a:rPr lang="en-US" sz="2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për të ruajtur fotot dhe komentet e mijëra përdoruesve?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815975" y="3043436"/>
            <a:ext cx="5200650" cy="717550"/>
          </a:xfrm>
          <a:prstGeom prst="roundRect">
            <a:avLst>
              <a:gd name="adj" fmla="val 15487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2350" y="3224411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7" name="Text 4"/>
          <p:cNvSpPr/>
          <p:nvPr/>
        </p:nvSpPr>
        <p:spPr>
          <a:xfrm>
            <a:off x="1136452" y="3277791"/>
            <a:ext cx="17819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4950" y="3277791"/>
            <a:ext cx="253536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 err="1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Një</a:t>
            </a:r>
            <a:r>
              <a:rPr lang="en-US" sz="14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 dirty="0" err="1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fajll</a:t>
            </a:r>
            <a:r>
              <a:rPr lang="en-US" sz="14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Excel të përbashkët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5375" y="3043436"/>
            <a:ext cx="5200650" cy="717550"/>
          </a:xfrm>
          <a:prstGeom prst="roundRect">
            <a:avLst>
              <a:gd name="adj" fmla="val 15487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81750" y="3224411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11" name="Text 8"/>
          <p:cNvSpPr/>
          <p:nvPr/>
        </p:nvSpPr>
        <p:spPr>
          <a:xfrm>
            <a:off x="6496943" y="3277791"/>
            <a:ext cx="1760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864350" y="3277791"/>
            <a:ext cx="208519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Bazë relacionale (MySQL)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5975" y="3919736"/>
            <a:ext cx="5200650" cy="717550"/>
          </a:xfrm>
          <a:prstGeom prst="roundRect">
            <a:avLst>
              <a:gd name="adj" fmla="val 15487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2350" y="4100711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15" name="Text 12"/>
          <p:cNvSpPr/>
          <p:nvPr/>
        </p:nvSpPr>
        <p:spPr>
          <a:xfrm>
            <a:off x="1137741" y="4154091"/>
            <a:ext cx="17561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04950" y="4154091"/>
            <a:ext cx="320913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Bazë jo-relacionale (MongoDB) + Cloud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75375" y="3919736"/>
            <a:ext cx="5200650" cy="717550"/>
          </a:xfrm>
          <a:prstGeom prst="roundRect">
            <a:avLst>
              <a:gd name="adj" fmla="val 15487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81750" y="4100711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2F6FED"/>
          </a:solidFill>
          <a:ln/>
        </p:spPr>
      </p:sp>
      <p:sp>
        <p:nvSpPr>
          <p:cNvPr id="19" name="Text 16"/>
          <p:cNvSpPr/>
          <p:nvPr/>
        </p:nvSpPr>
        <p:spPr>
          <a:xfrm>
            <a:off x="6495852" y="4154091"/>
            <a:ext cx="17819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864350" y="4154091"/>
            <a:ext cx="222642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Kartela letre të organizuara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12800" y="6289080"/>
            <a:ext cx="13916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Diskutim me klasën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18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PËRPARËSITË — PIKA NISJEJE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 bazë </a:t>
            </a:r>
            <a:r>
              <a:rPr lang="en-US" sz="28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të</a:t>
            </a: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28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dhënave</a:t>
            </a: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, kundrejt me bazë </a:t>
            </a:r>
            <a:r>
              <a:rPr lang="en-US" sz="28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të</a:t>
            </a: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28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dhënave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41401"/>
            <a:ext cx="5181600" cy="2219722"/>
          </a:xfrm>
          <a:prstGeom prst="roundRect">
            <a:avLst>
              <a:gd name="adj" fmla="val 6866"/>
            </a:avLst>
          </a:prstGeom>
          <a:solidFill>
            <a:srgbClr val="FDF1DC"/>
          </a:solidFill>
          <a:ln/>
        </p:spPr>
      </p:sp>
      <p:pic>
        <p:nvPicPr>
          <p:cNvPr id="5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2200" y="2120801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3200" y="2130921"/>
            <a:ext cx="213639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7A521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 bazë </a:t>
            </a:r>
            <a:r>
              <a:rPr lang="en-US" sz="1700" b="1" dirty="0" err="1">
                <a:solidFill>
                  <a:srgbClr val="7A521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të</a:t>
            </a:r>
            <a:r>
              <a:rPr lang="en-US" sz="1700" b="1" dirty="0">
                <a:solidFill>
                  <a:srgbClr val="7A521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1700" b="1" dirty="0" err="1">
                <a:solidFill>
                  <a:srgbClr val="7A521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dhënave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92200" y="2552601"/>
            <a:ext cx="22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7A52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58900" y="2552601"/>
            <a:ext cx="3306938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7A52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Të njëjtat të dhëna, kopjuar në </a:t>
            </a:r>
            <a:r>
              <a:rPr lang="en-US" sz="1300" dirty="0" err="1">
                <a:solidFill>
                  <a:srgbClr val="7A52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disa</a:t>
            </a:r>
            <a:r>
              <a:rPr lang="en-US" sz="1300" dirty="0">
                <a:solidFill>
                  <a:srgbClr val="7A52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dirty="0" err="1">
                <a:solidFill>
                  <a:srgbClr val="7A52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fajllë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2200" y="2885281"/>
            <a:ext cx="22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7A52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58900" y="2885281"/>
            <a:ext cx="379022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7A52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Gabime kur dikush harron të përditësojë një kopje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2200" y="3217962"/>
            <a:ext cx="22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7A52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358900" y="3217962"/>
            <a:ext cx="242499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7A52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Vështirë të kërkosh diçka shpejt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2200" y="3550642"/>
            <a:ext cx="22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7A52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58900" y="3550642"/>
            <a:ext cx="2867192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7A521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Vetëm një person punon njëkohësisht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97600" y="1841401"/>
            <a:ext cx="5181600" cy="2219722"/>
          </a:xfrm>
          <a:prstGeom prst="roundRect">
            <a:avLst>
              <a:gd name="adj" fmla="val 6866"/>
            </a:avLst>
          </a:prstGeom>
          <a:solidFill>
            <a:srgbClr val="E9F0FE"/>
          </a:solidFill>
          <a:ln/>
        </p:spPr>
      </p:sp>
      <p:pic>
        <p:nvPicPr>
          <p:cNvPr id="16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7000" y="2120801"/>
            <a:ext cx="279400" cy="279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58000" y="2130921"/>
            <a:ext cx="2173388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3A7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 bazë </a:t>
            </a:r>
            <a:r>
              <a:rPr lang="en-US" sz="1700" b="1" dirty="0" err="1">
                <a:solidFill>
                  <a:srgbClr val="123A7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të</a:t>
            </a:r>
            <a:r>
              <a:rPr lang="en-US" sz="1700" b="1" dirty="0">
                <a:solidFill>
                  <a:srgbClr val="123A7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1700" b="1" dirty="0" err="1">
                <a:solidFill>
                  <a:srgbClr val="123A7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dhënave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477000" y="2552601"/>
            <a:ext cx="22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23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743700" y="2552601"/>
            <a:ext cx="3262994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23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Një burim i vetëm i së vërtetës për të gjithë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77000" y="2885281"/>
            <a:ext cx="22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23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43700" y="2885281"/>
            <a:ext cx="3683937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23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Rregulla që parandalojnë të dhëna kontradiktore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77000" y="3217962"/>
            <a:ext cx="22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23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743700" y="3217962"/>
            <a:ext cx="227803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23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Kërkim dhe filtrim në sekonda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477000" y="3550642"/>
            <a:ext cx="2286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23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–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743700" y="3550642"/>
            <a:ext cx="314311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23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Shumë përdorues, </a:t>
            </a:r>
            <a:r>
              <a:rPr lang="en-US" sz="1300" dirty="0" err="1">
                <a:solidFill>
                  <a:srgbClr val="123A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njëkohësisht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18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2986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FED"/>
          </a:solidFill>
          <a:ln/>
        </p:spPr>
      </p:sp>
      <p:pic>
        <p:nvPicPr>
          <p:cNvPr id="3" name="Image 0" descr="Verifie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5200" y="982266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812800"/>
            <a:ext cx="61156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PËRPARËSIA 1 NGA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076920"/>
            <a:ext cx="6115674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Më pak përsëritje, më shumë saktësi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2800" y="1736030"/>
            <a:ext cx="101377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Çdo e dhënë ruhet një herë të vetme dhe përdoret nga të gjithë — jo e kopjuar nëpër </a:t>
            </a:r>
            <a:r>
              <a:rPr lang="en-US" sz="14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dhjetëra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fajllë</a:t>
            </a: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5975" y="2267446"/>
            <a:ext cx="5200650" cy="694630"/>
          </a:xfrm>
          <a:prstGeom prst="roundRect">
            <a:avLst>
              <a:gd name="adj" fmla="val 17826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7750" y="2499221"/>
            <a:ext cx="487921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Nuk ka versione kontradiktore të së njëjtës të dhënë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5375" y="2267446"/>
            <a:ext cx="5200650" cy="694630"/>
          </a:xfrm>
          <a:prstGeom prst="roundRect">
            <a:avLst>
              <a:gd name="adj" fmla="val 17826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7150" y="2499221"/>
            <a:ext cx="487921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Përditësimi bëhet një herë, ndryshimi shihet kudo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18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2986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FED"/>
          </a:solidFill>
          <a:ln/>
        </p:spPr>
      </p:sp>
      <p:pic>
        <p:nvPicPr>
          <p:cNvPr id="3" name="Image 0" descr="Lo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5200" y="982266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812800"/>
            <a:ext cx="44564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PËRPARËSIA 2 NGA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076920"/>
            <a:ext cx="4456431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Siguri dhe kontroll i qasjes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2800" y="1736030"/>
            <a:ext cx="101377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Sistemi vendos kush sheh çfarë — dhe regjistron çdo ndryshim.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5975" y="2267446"/>
            <a:ext cx="5200650" cy="925711"/>
          </a:xfrm>
          <a:prstGeom prst="roundRect">
            <a:avLst>
              <a:gd name="adj" fmla="val 13376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7750" y="2499221"/>
            <a:ext cx="487921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Fjalëkalime dhe nivele përdoruesish (admin, mësimdhënës, nxënës)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5375" y="2267446"/>
            <a:ext cx="5200650" cy="925711"/>
          </a:xfrm>
          <a:prstGeom prst="roundRect">
            <a:avLst>
              <a:gd name="adj" fmla="val 13376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7150" y="2499221"/>
            <a:ext cx="487921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Të dhëna sensitive (nota, pagesa) të mbrojtura nga qasje e paautorizuar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/ 18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2986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FED"/>
          </a:solidFill>
          <a:ln/>
        </p:spPr>
      </p:sp>
      <p:pic>
        <p:nvPicPr>
          <p:cNvPr id="3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5200" y="982266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812800"/>
            <a:ext cx="49606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PËRPARËSIA 3 NGA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076920"/>
            <a:ext cx="4960663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Qasje e përbashkët, e shpejtë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2800" y="1736030"/>
            <a:ext cx="101377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Dhjetëra a mijëra përdorues punojnë njëkohësisht, dhe gjejnë informacionin në sekonda.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5975" y="2267446"/>
            <a:ext cx="5200650" cy="694630"/>
          </a:xfrm>
          <a:prstGeom prst="roundRect">
            <a:avLst>
              <a:gd name="adj" fmla="val 17826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7750" y="2499221"/>
            <a:ext cx="487921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Pyetësorë (queries) në vend të kërkimit manual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5375" y="2267446"/>
            <a:ext cx="5200650" cy="694630"/>
          </a:xfrm>
          <a:prstGeom prst="roundRect">
            <a:avLst>
              <a:gd name="adj" fmla="val 17826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7150" y="2499221"/>
            <a:ext cx="487921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Shumë përdorues, pa u "bllokuar" njëri me tjetrin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/ 18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29866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F6FED"/>
          </a:solidFill>
          <a:ln/>
        </p:spPr>
      </p:sp>
      <p:pic>
        <p:nvPicPr>
          <p:cNvPr id="3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5200" y="982266"/>
            <a:ext cx="304800" cy="30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812800"/>
            <a:ext cx="53028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PËRPARËSIA 4 NGA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00200" y="1076920"/>
            <a:ext cx="5302813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b="1" dirty="0" err="1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Rikuperim</a:t>
            </a:r>
            <a:r>
              <a:rPr lang="en-US" sz="26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12800" y="1736030"/>
            <a:ext cx="1013777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Kur diçka shkon keq, ose kur biznesi rritet, baza e të dhënave përballon situatën.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15975" y="2267446"/>
            <a:ext cx="5200650" cy="925711"/>
          </a:xfrm>
          <a:prstGeom prst="roundRect">
            <a:avLst>
              <a:gd name="adj" fmla="val 13376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7750" y="2499221"/>
            <a:ext cx="487921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Kopje rezervë (backup) automatike dhe rikuperim i shpejtë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5375" y="2267446"/>
            <a:ext cx="5200650" cy="925711"/>
          </a:xfrm>
          <a:prstGeom prst="roundRect">
            <a:avLst>
              <a:gd name="adj" fmla="val 13376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7150" y="2499221"/>
            <a:ext cx="487921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Shkallëzim nga disa përdorues në miliona, pa ndryshuar strukturën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/ 18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ZBATIMI NË PRAKTIKË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1B24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Ku i takojmë bazat e të dhënave çdo ditë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44576"/>
            <a:ext cx="1984970" cy="1113730"/>
          </a:xfrm>
          <a:prstGeom prst="roundRect">
            <a:avLst>
              <a:gd name="adj" fmla="val 12258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pic>
        <p:nvPicPr>
          <p:cNvPr id="5" name="Image 0" descr="Trus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56060" y="2076351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84560" y="2495451"/>
            <a:ext cx="1447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Banka dhe pagesa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959695" y="1844576"/>
            <a:ext cx="1984970" cy="1113730"/>
          </a:xfrm>
          <a:prstGeom prst="roundRect">
            <a:avLst>
              <a:gd name="adj" fmla="val 12258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pic>
        <p:nvPicPr>
          <p:cNvPr id="8" name="Image 1" descr="Activity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99780" y="2076351"/>
            <a:ext cx="304800" cy="304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97064" y="2495451"/>
            <a:ext cx="91023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Shëndetësi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103416" y="1844576"/>
            <a:ext cx="1985070" cy="1113730"/>
          </a:xfrm>
          <a:prstGeom prst="roundRect">
            <a:avLst>
              <a:gd name="adj" fmla="val 12258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pic>
        <p:nvPicPr>
          <p:cNvPr id="11" name="Image 2" descr="GraduationCap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43501" y="2076351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30044" y="2495451"/>
            <a:ext cx="133171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 err="1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Shkolla</a:t>
            </a:r>
            <a:r>
              <a:rPr lang="en-US" sz="13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247235" y="1844576"/>
            <a:ext cx="1984970" cy="1113730"/>
          </a:xfrm>
          <a:prstGeom prst="roundRect">
            <a:avLst>
              <a:gd name="adj" fmla="val 12258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pic>
        <p:nvPicPr>
          <p:cNvPr id="14" name="Image 3" descr="Glob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87320" y="2076351"/>
            <a:ext cx="304800" cy="304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68419" y="2495451"/>
            <a:ext cx="114260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Dyqane online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9390955" y="1844576"/>
            <a:ext cx="1985070" cy="1113730"/>
          </a:xfrm>
          <a:prstGeom prst="roundRect">
            <a:avLst>
              <a:gd name="adj" fmla="val 12258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pic>
        <p:nvPicPr>
          <p:cNvPr id="17" name="Image 4" descr="Chat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31041" y="2076351"/>
            <a:ext cx="304800" cy="3048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836745" y="2495451"/>
            <a:ext cx="109349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Rrjete sociale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812800" y="3266281"/>
            <a:ext cx="10566400" cy="711200"/>
          </a:xfrm>
          <a:prstGeom prst="roundRect">
            <a:avLst>
              <a:gd name="adj" fmla="val 17857"/>
            </a:avLst>
          </a:prstGeom>
          <a:solidFill>
            <a:srgbClr val="16202A"/>
          </a:solidFill>
          <a:ln/>
        </p:spPr>
      </p:sp>
      <p:pic>
        <p:nvPicPr>
          <p:cNvPr id="20" name="Image 5" descr="Tool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66800" y="3494881"/>
            <a:ext cx="254000" cy="2540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447800" y="3497461"/>
            <a:ext cx="873555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4F7F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Gjatë kësaj lënde, ne do t'i ndërtojmë vetë këto koncepte — hap pas hapi, në Microsoft Access dhe me SQL.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 / 18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2400" b="1" kern="0" spc="100" dirty="0">
                <a:solidFill>
                  <a:srgbClr val="2F6F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PËRMBLEDHJE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44576"/>
            <a:ext cx="10560050" cy="2216150"/>
          </a:xfrm>
          <a:prstGeom prst="roundRect">
            <a:avLst>
              <a:gd name="adj" fmla="val 6734"/>
            </a:avLst>
          </a:prstGeom>
          <a:solidFill>
            <a:srgbClr val="FFFFFF"/>
          </a:solidFill>
          <a:ln w="6350">
            <a:solidFill>
              <a:srgbClr val="E4E7EC"/>
            </a:solidFill>
            <a:prstDash val="solid"/>
          </a:ln>
        </p:spPr>
      </p:sp>
      <p:pic>
        <p:nvPicPr>
          <p:cNvPr id="5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3950" y="2171601"/>
            <a:ext cx="2286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550" y="2152551"/>
            <a:ext cx="57489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Teknologjitë kryesore: </a:t>
            </a:r>
            <a:r>
              <a:rPr lang="en-US" sz="1500" dirty="0" err="1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fajllë</a:t>
            </a:r>
            <a:r>
              <a:rPr lang="en-US" sz="15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të thjeshtë, RDBMS, NoSQL, Cloud</a:t>
            </a:r>
            <a:endParaRPr lang="en-US" sz="1500" dirty="0"/>
          </a:p>
        </p:txBody>
      </p:sp>
      <p:pic>
        <p:nvPicPr>
          <p:cNvPr id="7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23950" y="2616101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79550" y="2597051"/>
            <a:ext cx="50051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 e të dhënave zvogëlon përsëritjen dhe rrit saktësinë</a:t>
            </a:r>
            <a:endParaRPr lang="en-US" sz="1500" dirty="0"/>
          </a:p>
        </p:txBody>
      </p:sp>
      <p:pic>
        <p:nvPicPr>
          <p:cNvPr id="9" name="Image 2" descr="Lo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23950" y="3060601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79550" y="3041551"/>
            <a:ext cx="39743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Kontrollon sigurinë dhe qasjen e përdoruesve</a:t>
            </a:r>
            <a:endParaRPr lang="en-US" sz="1500" dirty="0"/>
          </a:p>
        </p:txBody>
      </p:sp>
      <p:pic>
        <p:nvPicPr>
          <p:cNvPr id="11" name="Image 3" descr="Lightni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23950" y="3505101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79550" y="3486051"/>
            <a:ext cx="59973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Mbështet përdorim të përbashkët, të shpejtë dhe të shkallëzueshëm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812800" y="6289080"/>
            <a:ext cx="2186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Bazat e të Dhënave · Kapitulli 1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10883106" y="6289080"/>
            <a:ext cx="5468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3A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 / 18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F1720"/>
              </a:gs>
              <a:gs pos="55000">
                <a:srgbClr val="16283D"/>
              </a:gs>
              <a:gs pos="100000">
                <a:srgbClr val="1B3A5C"/>
              </a:gs>
            </a:gsLst>
            <a:lin ang="27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815975" y="815975"/>
            <a:ext cx="3973909" cy="397470"/>
          </a:xfrm>
          <a:prstGeom prst="roundRect">
            <a:avLst>
              <a:gd name="adj" fmla="val 50000"/>
            </a:avLst>
          </a:prstGeom>
          <a:solidFill>
            <a:srgbClr val="F5A623">
              <a:alpha val="16000"/>
            </a:srgbClr>
          </a:solidFill>
          <a:ln w="6350">
            <a:solidFill>
              <a:srgbClr val="F5A623"/>
            </a:solidFill>
            <a:prstDash val="solid"/>
          </a:ln>
        </p:spPr>
      </p:sp>
      <p:pic>
        <p:nvPicPr>
          <p:cNvPr id="4" name="Image 0" descr="Lightbulb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950" y="925810"/>
            <a:ext cx="177800" cy="177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6350" y="908050"/>
            <a:ext cx="34325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F7C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PËR TË MENDUAR DERI HERËN TJETËR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2689324"/>
            <a:ext cx="9810750" cy="1659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290"/>
              </a:lnSpc>
              <a:buNone/>
            </a:pPr>
            <a:r>
              <a:rPr lang="en-US" sz="3300" b="1" dirty="0">
                <a:solidFill>
                  <a:srgbClr val="F4F7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Mendoni për një aplikacion që përdorni çdo ditë. Çfarë </a:t>
            </a:r>
            <a:r>
              <a:rPr lang="en-US" sz="3300" b="1" dirty="0" err="1">
                <a:solidFill>
                  <a:srgbClr val="F4F7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të</a:t>
            </a:r>
            <a:r>
              <a:rPr lang="en-US" sz="3300" b="1" dirty="0">
                <a:solidFill>
                  <a:srgbClr val="F4F7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</a:t>
            </a:r>
            <a:r>
              <a:rPr lang="en-US" sz="3300" b="1" dirty="0" err="1">
                <a:solidFill>
                  <a:srgbClr val="F4F7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dhënat</a:t>
            </a:r>
            <a:r>
              <a:rPr lang="en-US" sz="3300" b="1" dirty="0">
                <a:solidFill>
                  <a:srgbClr val="F4F7F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ruan për ju — dhe çfarë ndodh nëse ato humbasin?</a:t>
            </a:r>
            <a:endParaRPr lang="en-US" sz="3300" dirty="0"/>
          </a:p>
        </p:txBody>
      </p:sp>
      <p:pic>
        <p:nvPicPr>
          <p:cNvPr id="7" name="Image 1" descr="Databas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12800" y="5819180"/>
            <a:ext cx="203200" cy="20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5796359"/>
            <a:ext cx="607939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3D2E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Faleminderit për vëmendjen — vazhdojmë në kabinet me punë individuale.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1627</Words>
  <Application>Microsoft Office PowerPoint</Application>
  <PresentationFormat>Widescreen</PresentationFormat>
  <Paragraphs>207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IBM Plex Mono</vt:lpstr>
      <vt:lpstr>IBM Plex Sans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Teknologjitë dhe Përparësitë e Bazave të të Dhënave</dc:title>
  <dc:subject>PptxGenJS Presentation</dc:subject>
  <dc:creator>PptxGenJS</dc:creator>
  <cp:lastModifiedBy>Administrator Taxhidin</cp:lastModifiedBy>
  <cp:revision>4</cp:revision>
  <dcterms:created xsi:type="dcterms:W3CDTF">2026-09-20T15:25:18Z</dcterms:created>
  <dcterms:modified xsi:type="dcterms:W3CDTF">2026-09-20T21:12:37Z</dcterms:modified>
</cp:coreProperties>
</file>