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4414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Titull. Lidhe me orën e kaluar: sot shohim dy 'lloje' bazash — e rrafshët dhe relacionale. (~1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Shpjego tabelën: kërko nga nxënësit të gjejnë vetë përsëritjet përpara se t'i zbulosh (ngjyrat e theksuara). (~2-3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Kalo shpejt nëpër 4 problemet, lidhe secilën me shembullin e tabelës së mëparshme. (~2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Diagrami: shpjego hap pas hapi si ID_Klientit e lidh tabelën — kjo është themeli i çelësit të huaj që do ta thellojmë në Kapitullin 4. (~3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Kalo nëpër tabelën krahasuese; lër nxënësit të japin shembuj vetë për 'kur përdoret cila'. (~2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Përmbledhje e shpejtë — mund t'u kërkosh nxënësve të plotësojnë vetë pikat. (~1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052560" y="1005840"/>
            <a:ext cx="1554480" cy="274320"/>
          </a:xfrm>
          <a:prstGeom prst="line">
            <a:avLst/>
          </a:prstGeom>
          <a:noFill/>
          <a:ln w="19050">
            <a:solidFill>
              <a:srgbClr val="1C7293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1280160"/>
            <a:ext cx="1920240" cy="1188720"/>
          </a:xfrm>
          <a:prstGeom prst="line">
            <a:avLst/>
          </a:prstGeom>
          <a:noFill/>
          <a:ln w="19050">
            <a:solidFill>
              <a:srgbClr val="1C7293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1280160"/>
            <a:ext cx="365760" cy="1737360"/>
          </a:xfrm>
          <a:prstGeom prst="line">
            <a:avLst/>
          </a:prstGeom>
          <a:noFill/>
          <a:ln w="19050">
            <a:solidFill>
              <a:srgbClr val="1C7293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8778240" y="3017520"/>
            <a:ext cx="640080" cy="1280160"/>
          </a:xfrm>
          <a:prstGeom prst="line">
            <a:avLst/>
          </a:prstGeom>
          <a:noFill/>
          <a:ln w="19050">
            <a:solidFill>
              <a:srgbClr val="1C7293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23960" y="1051560"/>
            <a:ext cx="457200" cy="457200"/>
          </a:xfrm>
          <a:prstGeom prst="ellipse">
            <a:avLst/>
          </a:prstGeom>
          <a:solidFill>
            <a:srgbClr val="F4B74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69880" y="868680"/>
            <a:ext cx="274320" cy="27432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35640" y="2331720"/>
            <a:ext cx="274320" cy="27432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2880360"/>
            <a:ext cx="274320" cy="27432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41080" y="4160520"/>
            <a:ext cx="274320" cy="27432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6F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BAZAT E TË DHËNAVE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196596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Rrafshët apo Relacionale?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Kapitulli 1  ·  Ora 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" y="4114800"/>
            <a:ext cx="2194560" cy="0"/>
          </a:xfrm>
          <a:prstGeom prst="line">
            <a:avLst/>
          </a:prstGeom>
          <a:noFill/>
          <a:ln w="31750">
            <a:solidFill>
              <a:srgbClr val="F4B7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Klasa 12  ·  Profili Informatikë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Baza e të Dhënave e Rrafshët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(ang. flat database) — një tabelë e vetme, si një fletë Excel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Shembull: “Porositë” — çdo blerje regjistrohet si rresht i ri: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91672" cy="192024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Emri i Klientit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Adresa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Produkti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Çmimi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43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</a:rPr>
                        <a:t>Agim Krasniqi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E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</a:rPr>
                        <a:t>Rr. Nëna Terezë, Prishtinë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E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430"/>
                          </a:solidFill>
                        </a:rPr>
                        <a:t>Laptop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430"/>
                          </a:solidFill>
                        </a:rPr>
                        <a:t>450 €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43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</a:rPr>
                        <a:t>Agim Krasniqi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E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</a:rPr>
                        <a:t>Rr. Nëna Terezë, Prishtinë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E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430"/>
                          </a:solidFill>
                        </a:rPr>
                        <a:t>Mouse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430"/>
                          </a:solidFill>
                        </a:rPr>
                        <a:t>8 €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43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430"/>
                          </a:solidFill>
                        </a:rPr>
                        <a:t>Fatlume Berisha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430"/>
                          </a:solidFill>
                        </a:rPr>
                        <a:t>Rr. UÇK, Gjakovë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430"/>
                          </a:solidFill>
                        </a:rPr>
                        <a:t>Tastierë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430"/>
                          </a:solidFill>
                        </a:rPr>
                        <a:t>15 €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43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</a:rPr>
                        <a:t>Agim Krasniqi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E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</a:rPr>
                        <a:t>Rr. Nëna Terezë, Prishtinë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E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430"/>
                          </a:solidFill>
                        </a:rPr>
                        <a:t>Monitor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430"/>
                          </a:solidFill>
                        </a:rPr>
                        <a:t>120 €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25196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3DEDA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437083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480560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425196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njëjta e dhënë (</a:t>
            </a:r>
            <a:r>
              <a:rPr lang="en-US" sz="13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emri, adresa</a:t>
            </a: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përsëritet çdo herë që klienti blen diçka — kjo quhet </a:t>
            </a:r>
            <a:r>
              <a:rPr lang="en-US" sz="13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redundancë</a:t>
            </a: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Bazat e të Dhënave  ·  Kapitulli 1  ·  Ora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Problemet e Bazës së Rrafshët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536295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F0D6D0"/>
            </a:solidFill>
            <a:prstDash val="solid"/>
          </a:ln>
          <a:effectLst>
            <a:outerShdw blurRad="63500" dist="25400" dir="5400000" algn="bl" rotWithShape="0">
              <a:srgbClr val="20304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2263140"/>
            <a:ext cx="822960" cy="822960"/>
          </a:xfrm>
          <a:prstGeom prst="ellipse">
            <a:avLst/>
          </a:prstGeom>
          <a:solidFill>
            <a:srgbClr val="F3DED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482596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2084832"/>
            <a:ext cx="38999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Redundancë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783080" y="2487168"/>
            <a:ext cx="389991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njëjta e dhënë shkruhet </a:t>
            </a:r>
            <a:r>
              <a:rPr lang="en-US" sz="1250" dirty="0" err="1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shumë</a:t>
            </a: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herë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77356" y="1828800"/>
            <a:ext cx="536295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F0D6D0"/>
            </a:solidFill>
            <a:prstDash val="solid"/>
          </a:ln>
          <a:effectLst>
            <a:outerShdw blurRad="63500" dist="25400" dir="5400000" algn="bl" rotWithShape="0">
              <a:srgbClr val="20304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33388" y="2263140"/>
            <a:ext cx="822960" cy="822960"/>
          </a:xfrm>
          <a:prstGeom prst="ellipse">
            <a:avLst/>
          </a:prstGeom>
          <a:solidFill>
            <a:srgbClr val="F3DED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2844" y="248259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11796" y="2084832"/>
            <a:ext cx="38999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 Përditësimi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511796" y="2487168"/>
            <a:ext cx="389991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Ndryshon adresa? Duhet ndryshuar në çdo rresht.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840480"/>
            <a:ext cx="536295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F0D6D0"/>
            </a:solidFill>
            <a:prstDash val="solid"/>
          </a:ln>
          <a:effectLst>
            <a:outerShdw blurRad="63500" dist="25400" dir="5400000" algn="bl" rotWithShape="0">
              <a:srgbClr val="20304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04672" y="4274820"/>
            <a:ext cx="822960" cy="822960"/>
          </a:xfrm>
          <a:prstGeom prst="ellipse">
            <a:avLst/>
          </a:prstGeom>
          <a:solidFill>
            <a:srgbClr val="F3DEDA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4494276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83080" y="4096512"/>
            <a:ext cx="38999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Rrezik Gabimesh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783080" y="4498848"/>
            <a:ext cx="389991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Lehtë harrohet një rresht — të dhënat bëhen jokonsistente.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277356" y="3840480"/>
            <a:ext cx="536295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F0D6D0"/>
            </a:solidFill>
            <a:prstDash val="solid"/>
          </a:ln>
          <a:effectLst>
            <a:outerShdw blurRad="63500" dist="25400" dir="5400000" algn="bl" rotWithShape="0">
              <a:srgbClr val="20304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533388" y="4274820"/>
            <a:ext cx="822960" cy="822960"/>
          </a:xfrm>
          <a:prstGeom prst="ellipse">
            <a:avLst/>
          </a:prstGeom>
          <a:solidFill>
            <a:srgbClr val="F3DEDA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2844" y="4494276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11796" y="4096512"/>
            <a:ext cx="38999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Hapësirë e Shpenzuar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7511796" y="4498848"/>
            <a:ext cx="389991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Përsëritjet zënë më shumë hapësirë ruajtjeje.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Bazat e të Dhënave  ·  Kapitulli 1  ·  Ora 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Baza e të Dhënave Relacionale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Shumë tabela të lidhura mes vete përmes një fushe të përbashkët (çelësi) — pa përsëritje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39319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651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59152"/>
            <a:ext cx="3931920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659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Klientët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50392" y="2496312"/>
            <a:ext cx="3877056" cy="402336"/>
          </a:xfrm>
          <a:prstGeom prst="rect">
            <a:avLst/>
          </a:prstGeom>
          <a:solidFill>
            <a:srgbClr val="FBEFD2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4688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64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ID_Klientit  (Çelësi Primar)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2926080"/>
            <a:ext cx="3931920" cy="0"/>
          </a:xfrm>
          <a:prstGeom prst="line">
            <a:avLst/>
          </a:prstGeom>
          <a:noFill/>
          <a:ln w="9525">
            <a:solidFill>
              <a:srgbClr val="E7EE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926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Emri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383280"/>
            <a:ext cx="3931920" cy="0"/>
          </a:xfrm>
          <a:prstGeom prst="line">
            <a:avLst/>
          </a:prstGeom>
          <a:noFill/>
          <a:ln w="9525">
            <a:solidFill>
              <a:srgbClr val="E7EE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383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452360" y="1965960"/>
            <a:ext cx="39319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6510">
            <a:solidFill>
              <a:srgbClr val="065A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52360" y="1965960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16" name="Shape 14"/>
          <p:cNvSpPr/>
          <p:nvPr/>
        </p:nvSpPr>
        <p:spPr>
          <a:xfrm>
            <a:off x="7452360" y="2359152"/>
            <a:ext cx="3931920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7452360" y="19659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Porositë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680960" y="24688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ID_Porosisë  (Çelësi Primar)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452360" y="2926080"/>
            <a:ext cx="3931920" cy="0"/>
          </a:xfrm>
          <a:prstGeom prst="line">
            <a:avLst/>
          </a:prstGeom>
          <a:noFill/>
          <a:ln w="9525">
            <a:solidFill>
              <a:srgbClr val="E7EE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79792" y="2953512"/>
            <a:ext cx="3877056" cy="402336"/>
          </a:xfrm>
          <a:prstGeom prst="rect">
            <a:avLst/>
          </a:prstGeom>
          <a:solidFill>
            <a:srgbClr val="FBEFD2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0" y="2926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64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ID_Klientit  (Çelësi i Huaj)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452360" y="3383280"/>
            <a:ext cx="3931920" cy="0"/>
          </a:xfrm>
          <a:prstGeom prst="line">
            <a:avLst/>
          </a:prstGeom>
          <a:noFill/>
          <a:ln w="9525">
            <a:solidFill>
              <a:srgbClr val="E7EE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0" y="3383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Produkti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452360" y="3840480"/>
            <a:ext cx="3931920" cy="0"/>
          </a:xfrm>
          <a:prstGeom prst="line">
            <a:avLst/>
          </a:prstGeom>
          <a:noFill/>
          <a:ln w="9525">
            <a:solidFill>
              <a:srgbClr val="E7EE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0" y="3840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Çmimi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754880" y="2697480"/>
            <a:ext cx="2697480" cy="457200"/>
          </a:xfrm>
          <a:prstGeom prst="line">
            <a:avLst/>
          </a:prstGeom>
          <a:noFill/>
          <a:ln w="28575">
            <a:solidFill>
              <a:srgbClr val="F4B74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0016" y="2642616"/>
            <a:ext cx="109728" cy="109728"/>
          </a:xfrm>
          <a:prstGeom prst="ellipse">
            <a:avLst/>
          </a:prstGeom>
          <a:solidFill>
            <a:srgbClr val="F4B740"/>
          </a:solidFill>
          <a:ln/>
        </p:spPr>
      </p:sp>
      <p:sp>
        <p:nvSpPr>
          <p:cNvPr id="28" name="Shape 26"/>
          <p:cNvSpPr/>
          <p:nvPr/>
        </p:nvSpPr>
        <p:spPr>
          <a:xfrm>
            <a:off x="7397496" y="3099816"/>
            <a:ext cx="109728" cy="109728"/>
          </a:xfrm>
          <a:prstGeom prst="ellipse">
            <a:avLst/>
          </a:prstGeom>
          <a:solidFill>
            <a:srgbClr val="F4B740"/>
          </a:solidFill>
          <a:ln/>
        </p:spPr>
      </p:sp>
      <p:sp>
        <p:nvSpPr>
          <p:cNvPr id="29" name="Shape 27"/>
          <p:cNvSpPr/>
          <p:nvPr/>
        </p:nvSpPr>
        <p:spPr>
          <a:xfrm>
            <a:off x="5052060" y="2670048"/>
            <a:ext cx="2103120" cy="512064"/>
          </a:xfrm>
          <a:prstGeom prst="roundRect">
            <a:avLst>
              <a:gd name="adj" fmla="val 50000"/>
            </a:avLst>
          </a:prstGeom>
          <a:solidFill>
            <a:srgbClr val="F4B740"/>
          </a:solidFill>
          <a:ln/>
        </p:spPr>
      </p:sp>
      <p:sp>
        <p:nvSpPr>
          <p:cNvPr id="30" name="Text 28"/>
          <p:cNvSpPr/>
          <p:nvPr/>
        </p:nvSpPr>
        <p:spPr>
          <a:xfrm>
            <a:off x="5052060" y="267004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klient  →  N porosi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22960" y="507492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Fusha “ID_Klientit” lidh dy tabelat — kështu emri dhe adresa shkruhen vetëm një herë.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Bazat e të Dhënave  ·  Kapitulli 1  ·  Ora 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Krahasimi: E Rrafshët vs. Relacionale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83464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5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4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Kriteri</a:t>
                      </a:r>
                      <a:endParaRPr lang="en-US" sz="13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 Rrafshët</a:t>
                      </a:r>
                      <a:endParaRPr lang="en-US" sz="13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Relacionale</a:t>
                      </a:r>
                      <a:endParaRPr lang="en-US" sz="13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</a:rPr>
                        <a:t>Numri i tabelave</a:t>
                      </a:r>
                      <a:endParaRPr lang="en-US" sz="125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430"/>
                          </a:solidFill>
                        </a:rPr>
                        <a:t>Vetëm një</a:t>
                      </a:r>
                      <a:endParaRPr lang="en-US" sz="125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430"/>
                          </a:solidFill>
                        </a:rPr>
                        <a:t>Shumë, të lidhura</a:t>
                      </a:r>
                      <a:endParaRPr lang="en-US" sz="125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</a:rPr>
                        <a:t>Përsëritje e të dhënave</a:t>
                      </a:r>
                      <a:endParaRPr lang="en-US" sz="125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430"/>
                          </a:solidFill>
                        </a:rPr>
                        <a:t>Shpesh (redundancë)</a:t>
                      </a:r>
                      <a:endParaRPr lang="en-US" sz="125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430"/>
                          </a:solidFill>
                        </a:rPr>
                        <a:t>Minimale</a:t>
                      </a:r>
                      <a:endParaRPr lang="en-US" sz="125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</a:rPr>
                        <a:t>Integriteti i të dhënave</a:t>
                      </a:r>
                      <a:endParaRPr lang="en-US" sz="125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430"/>
                          </a:solidFill>
                        </a:rPr>
                        <a:t>I ulët — rrezik gabimesh</a:t>
                      </a:r>
                      <a:endParaRPr lang="en-US" sz="125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430"/>
                          </a:solidFill>
                        </a:rPr>
                        <a:t>I lartë — i kontrolluar</a:t>
                      </a:r>
                      <a:endParaRPr lang="en-US" sz="125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</a:rPr>
                        <a:t>Përshtatshmëria</a:t>
                      </a:r>
                      <a:endParaRPr lang="en-US" sz="125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430"/>
                          </a:solidFill>
                        </a:rPr>
                        <a:t>Lista të vogla, të thjeshta</a:t>
                      </a:r>
                      <a:endParaRPr lang="en-US" sz="125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430"/>
                          </a:solidFill>
                        </a:rPr>
                        <a:t>Sisteme më të mëdha</a:t>
                      </a:r>
                      <a:endParaRPr lang="en-US" sz="125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48056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448056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Rregull praktik: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 lista të vogla e personale — e rrafshët mjafton. Për shkolla, banka apo biznese — përdor gjithmonë relacionale.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Bazat e të Dhënave  ·  Kapitulli 1  ·  Ora 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1C3A6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1792224"/>
            <a:ext cx="301752" cy="301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66420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 e rrafshët = 1 tabelë e vetme; e thjeshtë, por me përsëritje dhe rrezik gabimesh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40080" y="2560320"/>
            <a:ext cx="502920" cy="502920"/>
          </a:xfrm>
          <a:prstGeom prst="ellipse">
            <a:avLst/>
          </a:prstGeom>
          <a:solidFill>
            <a:srgbClr val="1C3A66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660904"/>
            <a:ext cx="301752" cy="3017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253288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 relacionale = shumë tabela të lidhura me çelësa; pa përsëritje</a:t>
            </a:r>
            <a:endParaRPr lang="en-US" sz="1550" dirty="0"/>
          </a:p>
        </p:txBody>
      </p:sp>
      <p:sp>
        <p:nvSpPr>
          <p:cNvPr id="9" name="Shape 5"/>
          <p:cNvSpPr/>
          <p:nvPr/>
        </p:nvSpPr>
        <p:spPr>
          <a:xfrm>
            <a:off x="640080" y="3429000"/>
            <a:ext cx="502920" cy="502920"/>
          </a:xfrm>
          <a:prstGeom prst="ellipse">
            <a:avLst/>
          </a:prstGeom>
          <a:solidFill>
            <a:srgbClr val="1C3A66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529584"/>
            <a:ext cx="301752" cy="30175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34015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Lidhja bëhet përmes një fushe të përbashkët — çelësi primar ↔ çelësi i huaj</a:t>
            </a:r>
            <a:endParaRPr lang="en-US" sz="1550" dirty="0"/>
          </a:p>
        </p:txBody>
      </p:sp>
      <p:sp>
        <p:nvSpPr>
          <p:cNvPr id="12" name="Shape 7"/>
          <p:cNvSpPr/>
          <p:nvPr/>
        </p:nvSpPr>
        <p:spPr>
          <a:xfrm>
            <a:off x="640080" y="4297680"/>
            <a:ext cx="502920" cy="502920"/>
          </a:xfrm>
          <a:prstGeom prst="ellipse">
            <a:avLst/>
          </a:prstGeom>
          <a:solidFill>
            <a:srgbClr val="1C3A66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4398264"/>
            <a:ext cx="301752" cy="30175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71600" y="427024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7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Në kabinet ndërtojmë baza relacionale me Microsoft Access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Bazat e të Dhënave  ·  Kapitulli 1  ·  Ora 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573</Words>
  <Application>Microsoft Office PowerPoint</Application>
  <PresentationFormat>Widescreen</PresentationFormat>
  <Paragraphs>93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Administrator Taxhidin</cp:lastModifiedBy>
  <cp:revision>2</cp:revision>
  <dcterms:created xsi:type="dcterms:W3CDTF">2026-09-22T23:59:38Z</dcterms:created>
  <dcterms:modified xsi:type="dcterms:W3CDTF">2026-09-30T01:58:34Z</dcterms:modified>
</cp:coreProperties>
</file>